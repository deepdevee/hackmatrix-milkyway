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defaultTextStyle>
    <a:defPPr lvl="0">
      <a:defRPr lang="en-US"/>
    </a:defPPr>
    <a:lvl1pPr marL="0" lv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2" d="100"/>
          <a:sy n="52" d="100"/>
        </p:scale>
        <p:origin x="850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9313" b="-69313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1153933" y="2694198"/>
            <a:ext cx="16230600" cy="149974"/>
            <a:chOff x="0" y="0"/>
            <a:chExt cx="4052983" cy="3745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052983" cy="37450"/>
            </a:xfrm>
            <a:custGeom>
              <a:avLst/>
              <a:gdLst/>
              <a:ahLst/>
              <a:cxnLst/>
              <a:rect l="l" t="t" r="r" b="b"/>
              <a:pathLst>
                <a:path w="4052983" h="37450">
                  <a:moveTo>
                    <a:pt x="0" y="0"/>
                  </a:moveTo>
                  <a:lnTo>
                    <a:pt x="4052983" y="0"/>
                  </a:lnTo>
                  <a:lnTo>
                    <a:pt x="4052983" y="37450"/>
                  </a:lnTo>
                  <a:lnTo>
                    <a:pt x="0" y="37450"/>
                  </a:lnTo>
                  <a:close/>
                </a:path>
              </a:pathLst>
            </a:custGeom>
            <a:gradFill rotWithShape="1">
              <a:gsLst>
                <a:gs pos="0">
                  <a:srgbClr val="FFC4E1">
                    <a:alpha val="0"/>
                  </a:srgbClr>
                </a:gs>
                <a:gs pos="25000">
                  <a:srgbClr val="C4FBFF">
                    <a:alpha val="100000"/>
                  </a:srgbClr>
                </a:gs>
                <a:gs pos="50000">
                  <a:srgbClr val="DAFCFF">
                    <a:alpha val="100000"/>
                  </a:srgbClr>
                </a:gs>
                <a:gs pos="75000">
                  <a:srgbClr val="C4FBFF">
                    <a:alpha val="60000"/>
                  </a:srgbClr>
                </a:gs>
                <a:gs pos="100000">
                  <a:srgbClr val="FFC4E1">
                    <a:alpha val="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052983" cy="75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633296" y="575308"/>
            <a:ext cx="2131575" cy="1004833"/>
          </a:xfrm>
          <a:custGeom>
            <a:avLst/>
            <a:gdLst/>
            <a:ahLst/>
            <a:cxnLst/>
            <a:rect l="l" t="t" r="r" b="b"/>
            <a:pathLst>
              <a:path w="2131575" h="1004833">
                <a:moveTo>
                  <a:pt x="0" y="0"/>
                </a:moveTo>
                <a:lnTo>
                  <a:pt x="2131575" y="0"/>
                </a:lnTo>
                <a:lnTo>
                  <a:pt x="2131575" y="1004833"/>
                </a:lnTo>
                <a:lnTo>
                  <a:pt x="0" y="10048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Freeform 7"/>
          <p:cNvSpPr/>
          <p:nvPr/>
        </p:nvSpPr>
        <p:spPr>
          <a:xfrm>
            <a:off x="15978666" y="-269126"/>
            <a:ext cx="2475692" cy="2475692"/>
          </a:xfrm>
          <a:custGeom>
            <a:avLst/>
            <a:gdLst/>
            <a:ahLst/>
            <a:cxnLst/>
            <a:rect l="l" t="t" r="r" b="b"/>
            <a:pathLst>
              <a:path w="2475692" h="2475692">
                <a:moveTo>
                  <a:pt x="0" y="0"/>
                </a:moveTo>
                <a:lnTo>
                  <a:pt x="2475692" y="0"/>
                </a:lnTo>
                <a:lnTo>
                  <a:pt x="2475692" y="2475692"/>
                </a:lnTo>
                <a:lnTo>
                  <a:pt x="0" y="24756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TextBox 8"/>
          <p:cNvSpPr txBox="1"/>
          <p:nvPr/>
        </p:nvSpPr>
        <p:spPr>
          <a:xfrm>
            <a:off x="4173024" y="365758"/>
            <a:ext cx="10395942" cy="11163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059"/>
              </a:lnSpc>
              <a:spcBef>
                <a:spcPct val="0"/>
              </a:spcBef>
            </a:pPr>
            <a:r>
              <a:rPr lang="en-US" sz="5999" b="1" spc="-215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HACK MATRIX HACKATHON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363982" y="1687516"/>
            <a:ext cx="3301157" cy="866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45"/>
              </a:lnSpc>
              <a:spcBef>
                <a:spcPct val="0"/>
              </a:spcBef>
            </a:pPr>
            <a:r>
              <a:rPr lang="en-US" sz="4599" b="1" spc="-165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TITLE PAGE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85956" y="3568777"/>
            <a:ext cx="12359889" cy="5578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90874" lvl="1" indent="-345437" algn="l">
              <a:lnSpc>
                <a:spcPts val="4831"/>
              </a:lnSpc>
              <a:spcBef>
                <a:spcPct val="0"/>
              </a:spcBef>
              <a:buFont typeface="Arial"/>
              <a:buChar char="•"/>
            </a:pPr>
            <a:r>
              <a:rPr lang="en-US" sz="3199" b="1" spc="-115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PROJECT TITLE : Commute Emission Comparer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76504" y="5243019"/>
            <a:ext cx="12472579" cy="5578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90874" lvl="1" indent="-345437" algn="l">
              <a:lnSpc>
                <a:spcPts val="4831"/>
              </a:lnSpc>
              <a:spcBef>
                <a:spcPct val="0"/>
              </a:spcBef>
              <a:buFont typeface="Arial"/>
              <a:buChar char="•"/>
            </a:pPr>
            <a:r>
              <a:rPr lang="en-US" sz="3199" b="1" spc="-115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TEAM NAME : </a:t>
            </a:r>
            <a:r>
              <a:rPr lang="en-US" sz="3199" b="1" spc="-115" dirty="0" err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Milkyway</a:t>
            </a:r>
            <a:endParaRPr lang="en-US" sz="3199" b="1" spc="-115" dirty="0">
              <a:solidFill>
                <a:srgbClr val="FFFFFF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485955" y="6919947"/>
            <a:ext cx="12094419" cy="30200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90874" lvl="1" indent="-345437" algn="l">
              <a:lnSpc>
                <a:spcPts val="4831"/>
              </a:lnSpc>
              <a:spcBef>
                <a:spcPct val="0"/>
              </a:spcBef>
              <a:buFont typeface="Arial"/>
              <a:buChar char="•"/>
            </a:pPr>
            <a:r>
              <a:rPr lang="en-US" sz="3199" b="1" spc="-115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TEAM MEMBERS : </a:t>
            </a:r>
          </a:p>
          <a:p>
            <a:pPr marL="345437" lvl="1" algn="l">
              <a:lnSpc>
                <a:spcPts val="4831"/>
              </a:lnSpc>
              <a:spcBef>
                <a:spcPct val="0"/>
              </a:spcBef>
            </a:pPr>
            <a:r>
              <a:rPr lang="en-US" sz="3199" b="1" spc="-115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Aditi Sinha</a:t>
            </a:r>
          </a:p>
          <a:p>
            <a:pPr marL="345437" lvl="1" algn="l">
              <a:lnSpc>
                <a:spcPts val="4831"/>
              </a:lnSpc>
              <a:spcBef>
                <a:spcPct val="0"/>
              </a:spcBef>
            </a:pPr>
            <a:r>
              <a:rPr lang="en-US" sz="3199" b="1" spc="-115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Deep Deshmukh</a:t>
            </a:r>
          </a:p>
          <a:p>
            <a:pPr marL="345437" lvl="1" algn="l">
              <a:lnSpc>
                <a:spcPts val="4831"/>
              </a:lnSpc>
              <a:spcBef>
                <a:spcPct val="0"/>
              </a:spcBef>
            </a:pPr>
            <a:r>
              <a:rPr lang="en-US" sz="3199" b="1" spc="-115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Tanisha Kumari</a:t>
            </a:r>
          </a:p>
          <a:p>
            <a:pPr marL="345437" lvl="1" algn="l">
              <a:lnSpc>
                <a:spcPts val="4831"/>
              </a:lnSpc>
              <a:spcBef>
                <a:spcPct val="0"/>
              </a:spcBef>
            </a:pPr>
            <a:r>
              <a:rPr lang="en-US" sz="3199" b="1" spc="-115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Aarya Ojha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313" b="-9313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3"/>
          <p:cNvSpPr txBox="1"/>
          <p:nvPr/>
        </p:nvSpPr>
        <p:spPr>
          <a:xfrm>
            <a:off x="5836741" y="525462"/>
            <a:ext cx="6614517" cy="8826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sz="4999" b="1" spc="-399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PROBLEM   STATEMENT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78780" y="3181985"/>
            <a:ext cx="16180519" cy="17949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4056" lvl="1" indent="-367028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Millions of people commute daily by car without </a:t>
            </a:r>
            <a:r>
              <a:rPr lang="en-US" sz="3399" b="1" spc="-271" dirty="0" err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realising</a:t>
            </a: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the significant CO2 emissions they produce. There is no simple, visual tool that shows real-time comparison of emissions and costs across different transport modes — making it hard for individuals to make informed, greener travel choices.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57201" y="5623335"/>
            <a:ext cx="16230600" cy="11793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4056" lvl="1" indent="-367028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Daily commuters, students, and working professionals who drive alone — and urban communities that suffer from traffic congestion and air pollution.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57201" y="6937260"/>
            <a:ext cx="15829702" cy="17949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4056" lvl="1" indent="-367028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Transport is one of the largest sources of carbon emissions globally. Without awareness, people cannot change </a:t>
            </a:r>
            <a:r>
              <a:rPr lang="en-US" sz="3399" b="1" spc="-271" dirty="0" err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behaviour</a:t>
            </a: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. This tool makes the invisible visible — putting emission data in the hands of everyday commuters.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028700" y="1755661"/>
            <a:ext cx="16230600" cy="149974"/>
            <a:chOff x="0" y="0"/>
            <a:chExt cx="4052983" cy="374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052983" cy="37450"/>
            </a:xfrm>
            <a:custGeom>
              <a:avLst/>
              <a:gdLst/>
              <a:ahLst/>
              <a:cxnLst/>
              <a:rect l="l" t="t" r="r" b="b"/>
              <a:pathLst>
                <a:path w="4052983" h="37450">
                  <a:moveTo>
                    <a:pt x="0" y="0"/>
                  </a:moveTo>
                  <a:lnTo>
                    <a:pt x="4052983" y="0"/>
                  </a:lnTo>
                  <a:lnTo>
                    <a:pt x="4052983" y="37450"/>
                  </a:lnTo>
                  <a:lnTo>
                    <a:pt x="0" y="37450"/>
                  </a:lnTo>
                  <a:close/>
                </a:path>
              </a:pathLst>
            </a:custGeom>
            <a:gradFill rotWithShape="1">
              <a:gsLst>
                <a:gs pos="0">
                  <a:srgbClr val="FFC4E1">
                    <a:alpha val="0"/>
                  </a:srgbClr>
                </a:gs>
                <a:gs pos="25000">
                  <a:srgbClr val="C4FBFF">
                    <a:alpha val="100000"/>
                  </a:srgbClr>
                </a:gs>
                <a:gs pos="50000">
                  <a:srgbClr val="DAFCFF">
                    <a:alpha val="100000"/>
                  </a:srgbClr>
                </a:gs>
                <a:gs pos="75000">
                  <a:srgbClr val="C4FBFF">
                    <a:alpha val="60000"/>
                  </a:srgbClr>
                </a:gs>
                <a:gs pos="100000">
                  <a:srgbClr val="FFC4E1">
                    <a:alpha val="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4052983" cy="75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633296" y="575308"/>
            <a:ext cx="2131575" cy="1004833"/>
          </a:xfrm>
          <a:custGeom>
            <a:avLst/>
            <a:gdLst/>
            <a:ahLst/>
            <a:cxnLst/>
            <a:rect l="l" t="t" r="r" b="b"/>
            <a:pathLst>
              <a:path w="2131575" h="1004833">
                <a:moveTo>
                  <a:pt x="0" y="0"/>
                </a:moveTo>
                <a:lnTo>
                  <a:pt x="2131575" y="0"/>
                </a:lnTo>
                <a:lnTo>
                  <a:pt x="2131575" y="1004833"/>
                </a:lnTo>
                <a:lnTo>
                  <a:pt x="0" y="10048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>
          <a:xfrm>
            <a:off x="15978666" y="-269126"/>
            <a:ext cx="2475692" cy="2475692"/>
          </a:xfrm>
          <a:custGeom>
            <a:avLst/>
            <a:gdLst/>
            <a:ahLst/>
            <a:cxnLst/>
            <a:rect l="l" t="t" r="r" b="b"/>
            <a:pathLst>
              <a:path w="2475692" h="2475692">
                <a:moveTo>
                  <a:pt x="0" y="0"/>
                </a:moveTo>
                <a:lnTo>
                  <a:pt x="2475692" y="0"/>
                </a:lnTo>
                <a:lnTo>
                  <a:pt x="2475692" y="2475692"/>
                </a:lnTo>
                <a:lnTo>
                  <a:pt x="0" y="24756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313" b="-9313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3"/>
          <p:cNvSpPr txBox="1"/>
          <p:nvPr/>
        </p:nvSpPr>
        <p:spPr>
          <a:xfrm>
            <a:off x="4369709" y="525462"/>
            <a:ext cx="9308753" cy="8826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sz="4999" b="1" spc="-399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EXISTING  SOLUTIONS  AND  GAPS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221871" y="2920597"/>
            <a:ext cx="15886257" cy="11793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4056" lvl="1" indent="-367028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Google Maps shows routes and travel time. Some government portals publish AQI data. Carbon footprint calculators exist on a few green websites.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240922" y="4800917"/>
            <a:ext cx="15439504" cy="11793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4056" lvl="1" indent="-367028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None of them combine route input + multi-mode emission comparison + cost analysis in one place. Existing tools are either too technical, region-specific, or not mobile-friendly.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40922" y="6676708"/>
            <a:ext cx="15203530" cy="17949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4056" lvl="1" indent="-367028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Our app fills the gap by giving users a single, simple interface to enter their commute distance and instantly see a side-by-side CO2 and cost breakdown across Car, Bus, Metro, and Cycling — with monthly savings highlighted.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221872" y="1656550"/>
            <a:ext cx="16230600" cy="149974"/>
            <a:chOff x="0" y="0"/>
            <a:chExt cx="4052983" cy="374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052983" cy="37450"/>
            </a:xfrm>
            <a:custGeom>
              <a:avLst/>
              <a:gdLst/>
              <a:ahLst/>
              <a:cxnLst/>
              <a:rect l="l" t="t" r="r" b="b"/>
              <a:pathLst>
                <a:path w="4052983" h="37450">
                  <a:moveTo>
                    <a:pt x="0" y="0"/>
                  </a:moveTo>
                  <a:lnTo>
                    <a:pt x="4052983" y="0"/>
                  </a:lnTo>
                  <a:lnTo>
                    <a:pt x="4052983" y="37450"/>
                  </a:lnTo>
                  <a:lnTo>
                    <a:pt x="0" y="37450"/>
                  </a:lnTo>
                  <a:close/>
                </a:path>
              </a:pathLst>
            </a:custGeom>
            <a:gradFill rotWithShape="1">
              <a:gsLst>
                <a:gs pos="0">
                  <a:srgbClr val="FFC4E1">
                    <a:alpha val="0"/>
                  </a:srgbClr>
                </a:gs>
                <a:gs pos="25000">
                  <a:srgbClr val="C4FBFF">
                    <a:alpha val="100000"/>
                  </a:srgbClr>
                </a:gs>
                <a:gs pos="50000">
                  <a:srgbClr val="DAFCFF">
                    <a:alpha val="100000"/>
                  </a:srgbClr>
                </a:gs>
                <a:gs pos="75000">
                  <a:srgbClr val="C4FBFF">
                    <a:alpha val="60000"/>
                  </a:srgbClr>
                </a:gs>
                <a:gs pos="100000">
                  <a:srgbClr val="FFC4E1">
                    <a:alpha val="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4052983" cy="75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633296" y="575308"/>
            <a:ext cx="2131575" cy="1004833"/>
          </a:xfrm>
          <a:custGeom>
            <a:avLst/>
            <a:gdLst/>
            <a:ahLst/>
            <a:cxnLst/>
            <a:rect l="l" t="t" r="r" b="b"/>
            <a:pathLst>
              <a:path w="2131575" h="1004833">
                <a:moveTo>
                  <a:pt x="0" y="0"/>
                </a:moveTo>
                <a:lnTo>
                  <a:pt x="2131575" y="0"/>
                </a:lnTo>
                <a:lnTo>
                  <a:pt x="2131575" y="1004833"/>
                </a:lnTo>
                <a:lnTo>
                  <a:pt x="0" y="10048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>
          <a:xfrm>
            <a:off x="15978666" y="-269126"/>
            <a:ext cx="2475692" cy="2475692"/>
          </a:xfrm>
          <a:custGeom>
            <a:avLst/>
            <a:gdLst/>
            <a:ahLst/>
            <a:cxnLst/>
            <a:rect l="l" t="t" r="r" b="b"/>
            <a:pathLst>
              <a:path w="2475692" h="2475692">
                <a:moveTo>
                  <a:pt x="0" y="0"/>
                </a:moveTo>
                <a:lnTo>
                  <a:pt x="2475692" y="0"/>
                </a:lnTo>
                <a:lnTo>
                  <a:pt x="2475692" y="2475692"/>
                </a:lnTo>
                <a:lnTo>
                  <a:pt x="0" y="24756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313" b="-9313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3"/>
          <p:cNvSpPr txBox="1"/>
          <p:nvPr/>
        </p:nvSpPr>
        <p:spPr>
          <a:xfrm>
            <a:off x="6113000" y="525462"/>
            <a:ext cx="6320879" cy="8826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sz="4999" b="1" spc="-399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PROPOSED  SOLUTION 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250042" y="3087020"/>
            <a:ext cx="16009258" cy="17949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4056" lvl="1" indent="-367028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 web/mobile app where users enter their commute distance (in km) and the app instantly computes and displays CO2 emissions and daily travel cost for four transport modes — Car, Bus, Metro, and Cycling — side by side in a comparison table.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250042" y="5252437"/>
            <a:ext cx="15725352" cy="11793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4056" lvl="1" indent="-367028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Route input form (distance in km) | Side-by-side emission and cost table | Monthly savings highlighted | Greener mode recommendation badge | Shareable summary card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86119" y="6940085"/>
            <a:ext cx="15479557" cy="11793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4056" lvl="1" indent="-367028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By making emission data personal and visual, it nudges commuters to switch to greener modes — directly reducing individual carbon footprints without requiring any lifestyle overhaul.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028700" y="1613071"/>
            <a:ext cx="16230600" cy="149974"/>
            <a:chOff x="0" y="0"/>
            <a:chExt cx="4052983" cy="374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052983" cy="37450"/>
            </a:xfrm>
            <a:custGeom>
              <a:avLst/>
              <a:gdLst/>
              <a:ahLst/>
              <a:cxnLst/>
              <a:rect l="l" t="t" r="r" b="b"/>
              <a:pathLst>
                <a:path w="4052983" h="37450">
                  <a:moveTo>
                    <a:pt x="0" y="0"/>
                  </a:moveTo>
                  <a:lnTo>
                    <a:pt x="4052983" y="0"/>
                  </a:lnTo>
                  <a:lnTo>
                    <a:pt x="4052983" y="37450"/>
                  </a:lnTo>
                  <a:lnTo>
                    <a:pt x="0" y="37450"/>
                  </a:lnTo>
                  <a:close/>
                </a:path>
              </a:pathLst>
            </a:custGeom>
            <a:gradFill rotWithShape="1">
              <a:gsLst>
                <a:gs pos="0">
                  <a:srgbClr val="FFC4E1">
                    <a:alpha val="0"/>
                  </a:srgbClr>
                </a:gs>
                <a:gs pos="25000">
                  <a:srgbClr val="C4FBFF">
                    <a:alpha val="100000"/>
                  </a:srgbClr>
                </a:gs>
                <a:gs pos="50000">
                  <a:srgbClr val="DAFCFF">
                    <a:alpha val="100000"/>
                  </a:srgbClr>
                </a:gs>
                <a:gs pos="75000">
                  <a:srgbClr val="C4FBFF">
                    <a:alpha val="60000"/>
                  </a:srgbClr>
                </a:gs>
                <a:gs pos="100000">
                  <a:srgbClr val="FFC4E1">
                    <a:alpha val="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4052983" cy="75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633296" y="575308"/>
            <a:ext cx="2131575" cy="1004833"/>
          </a:xfrm>
          <a:custGeom>
            <a:avLst/>
            <a:gdLst/>
            <a:ahLst/>
            <a:cxnLst/>
            <a:rect l="l" t="t" r="r" b="b"/>
            <a:pathLst>
              <a:path w="2131575" h="1004833">
                <a:moveTo>
                  <a:pt x="0" y="0"/>
                </a:moveTo>
                <a:lnTo>
                  <a:pt x="2131575" y="0"/>
                </a:lnTo>
                <a:lnTo>
                  <a:pt x="2131575" y="1004833"/>
                </a:lnTo>
                <a:lnTo>
                  <a:pt x="0" y="10048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>
          <a:xfrm>
            <a:off x="15978666" y="-269126"/>
            <a:ext cx="2475692" cy="2475692"/>
          </a:xfrm>
          <a:custGeom>
            <a:avLst/>
            <a:gdLst/>
            <a:ahLst/>
            <a:cxnLst/>
            <a:rect l="l" t="t" r="r" b="b"/>
            <a:pathLst>
              <a:path w="2475692" h="2475692">
                <a:moveTo>
                  <a:pt x="0" y="0"/>
                </a:moveTo>
                <a:lnTo>
                  <a:pt x="2475692" y="0"/>
                </a:lnTo>
                <a:lnTo>
                  <a:pt x="2475692" y="2475692"/>
                </a:lnTo>
                <a:lnTo>
                  <a:pt x="0" y="24756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313" b="-9313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3"/>
          <p:cNvSpPr txBox="1"/>
          <p:nvPr/>
        </p:nvSpPr>
        <p:spPr>
          <a:xfrm>
            <a:off x="5742232" y="396022"/>
            <a:ext cx="7099399" cy="8826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sz="4999" b="1" spc="-399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SYSTEM ARCHITECTURE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46972" y="2885430"/>
            <a:ext cx="15898925" cy="11793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4056" lvl="1" indent="-367028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Frontend (HTML form) → Emission Calculator (JS logic with CO2 constants per mode) → Results Renderer (comparison table + savings card). Fully client-side, no backend needed.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46897" y="4808845"/>
            <a:ext cx="15898925" cy="11793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4056" lvl="1" indent="-367028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Frontend: Input form + Results UI | Logic: Emission calculation module | Output: Comparison table, savings badge | Optional: OpenStreetMap API for distance input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46898" y="6732260"/>
            <a:ext cx="15898924" cy="11793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4056" lvl="1" indent="-367028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User enters km → JS calculates CO2 &amp; cost for Car/Bus/Metro/Cycling → Renders side-by-side table → Highlights greenest and cheapest option automatically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176631" y="1549207"/>
            <a:ext cx="16230600" cy="149974"/>
            <a:chOff x="0" y="0"/>
            <a:chExt cx="4052983" cy="374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052983" cy="37450"/>
            </a:xfrm>
            <a:custGeom>
              <a:avLst/>
              <a:gdLst/>
              <a:ahLst/>
              <a:cxnLst/>
              <a:rect l="l" t="t" r="r" b="b"/>
              <a:pathLst>
                <a:path w="4052983" h="37450">
                  <a:moveTo>
                    <a:pt x="0" y="0"/>
                  </a:moveTo>
                  <a:lnTo>
                    <a:pt x="4052983" y="0"/>
                  </a:lnTo>
                  <a:lnTo>
                    <a:pt x="4052983" y="37450"/>
                  </a:lnTo>
                  <a:lnTo>
                    <a:pt x="0" y="37450"/>
                  </a:lnTo>
                  <a:close/>
                </a:path>
              </a:pathLst>
            </a:custGeom>
            <a:gradFill rotWithShape="1">
              <a:gsLst>
                <a:gs pos="0">
                  <a:srgbClr val="FFC4E1">
                    <a:alpha val="0"/>
                  </a:srgbClr>
                </a:gs>
                <a:gs pos="25000">
                  <a:srgbClr val="C4FBFF">
                    <a:alpha val="100000"/>
                  </a:srgbClr>
                </a:gs>
                <a:gs pos="50000">
                  <a:srgbClr val="DAFCFF">
                    <a:alpha val="100000"/>
                  </a:srgbClr>
                </a:gs>
                <a:gs pos="75000">
                  <a:srgbClr val="C4FBFF">
                    <a:alpha val="60000"/>
                  </a:srgbClr>
                </a:gs>
                <a:gs pos="100000">
                  <a:srgbClr val="FFC4E1">
                    <a:alpha val="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4052983" cy="75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633296" y="575308"/>
            <a:ext cx="2131575" cy="1004833"/>
          </a:xfrm>
          <a:custGeom>
            <a:avLst/>
            <a:gdLst/>
            <a:ahLst/>
            <a:cxnLst/>
            <a:rect l="l" t="t" r="r" b="b"/>
            <a:pathLst>
              <a:path w="2131575" h="1004833">
                <a:moveTo>
                  <a:pt x="0" y="0"/>
                </a:moveTo>
                <a:lnTo>
                  <a:pt x="2131575" y="0"/>
                </a:lnTo>
                <a:lnTo>
                  <a:pt x="2131575" y="1004833"/>
                </a:lnTo>
                <a:lnTo>
                  <a:pt x="0" y="10048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>
          <a:xfrm>
            <a:off x="15978666" y="-269126"/>
            <a:ext cx="2475692" cy="2475692"/>
          </a:xfrm>
          <a:custGeom>
            <a:avLst/>
            <a:gdLst/>
            <a:ahLst/>
            <a:cxnLst/>
            <a:rect l="l" t="t" r="r" b="b"/>
            <a:pathLst>
              <a:path w="2475692" h="2475692">
                <a:moveTo>
                  <a:pt x="0" y="0"/>
                </a:moveTo>
                <a:lnTo>
                  <a:pt x="2475692" y="0"/>
                </a:lnTo>
                <a:lnTo>
                  <a:pt x="2475692" y="2475692"/>
                </a:lnTo>
                <a:lnTo>
                  <a:pt x="0" y="24756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313" b="-9313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3"/>
          <p:cNvSpPr txBox="1"/>
          <p:nvPr/>
        </p:nvSpPr>
        <p:spPr>
          <a:xfrm>
            <a:off x="3954672" y="396022"/>
            <a:ext cx="10896416" cy="8826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sz="4999" b="1" spc="-399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FLOWCHART  /  WORKING PROCESS 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01303" y="2828140"/>
            <a:ext cx="16354310" cy="5638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4056" lvl="1" indent="-367028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Step 1: User enters commute distance (km) on the input form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01377" y="4692252"/>
            <a:ext cx="15425087" cy="11793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4056" lvl="1" indent="-367028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Step 2: App applies emission factors (Car: 0.21kg/km, Bus: 0.089kg/km, Metro: 0.041kg/km, Cycling: 0kg/km) and cost estimates per mode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01303" y="6556363"/>
            <a:ext cx="15105938" cy="30260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4056" lvl="1" indent="-367028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Step 3: Results table rendered instantly </a:t>
            </a:r>
          </a:p>
          <a:p>
            <a:pPr marL="367028" lvl="1" algn="l">
              <a:lnSpc>
                <a:spcPts val="4759"/>
              </a:lnSpc>
              <a:spcBef>
                <a:spcPct val="0"/>
              </a:spcBef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</a:p>
          <a:p>
            <a:pPr marL="734056" lvl="1" indent="-367028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Step 4: Monthly savings highlighted </a:t>
            </a:r>
          </a:p>
          <a:p>
            <a:pPr marL="734056" lvl="1" indent="-367028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endParaRPr lang="en-US" sz="3399" b="1" spc="-271" dirty="0">
              <a:solidFill>
                <a:srgbClr val="FFFFFF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marL="734056" lvl="1" indent="-367028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Step 5: Greener mode badge displayed to user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287580" y="1549207"/>
            <a:ext cx="16230600" cy="149974"/>
            <a:chOff x="0" y="0"/>
            <a:chExt cx="4052983" cy="374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052983" cy="37450"/>
            </a:xfrm>
            <a:custGeom>
              <a:avLst/>
              <a:gdLst/>
              <a:ahLst/>
              <a:cxnLst/>
              <a:rect l="l" t="t" r="r" b="b"/>
              <a:pathLst>
                <a:path w="4052983" h="37450">
                  <a:moveTo>
                    <a:pt x="0" y="0"/>
                  </a:moveTo>
                  <a:lnTo>
                    <a:pt x="4052983" y="0"/>
                  </a:lnTo>
                  <a:lnTo>
                    <a:pt x="4052983" y="37450"/>
                  </a:lnTo>
                  <a:lnTo>
                    <a:pt x="0" y="37450"/>
                  </a:lnTo>
                  <a:close/>
                </a:path>
              </a:pathLst>
            </a:custGeom>
            <a:gradFill rotWithShape="1">
              <a:gsLst>
                <a:gs pos="0">
                  <a:srgbClr val="FFC4E1">
                    <a:alpha val="0"/>
                  </a:srgbClr>
                </a:gs>
                <a:gs pos="25000">
                  <a:srgbClr val="C4FBFF">
                    <a:alpha val="100000"/>
                  </a:srgbClr>
                </a:gs>
                <a:gs pos="50000">
                  <a:srgbClr val="DAFCFF">
                    <a:alpha val="100000"/>
                  </a:srgbClr>
                </a:gs>
                <a:gs pos="75000">
                  <a:srgbClr val="C4FBFF">
                    <a:alpha val="60000"/>
                  </a:srgbClr>
                </a:gs>
                <a:gs pos="100000">
                  <a:srgbClr val="FFC4E1">
                    <a:alpha val="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4052983" cy="75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633296" y="575308"/>
            <a:ext cx="2131575" cy="1004833"/>
          </a:xfrm>
          <a:custGeom>
            <a:avLst/>
            <a:gdLst/>
            <a:ahLst/>
            <a:cxnLst/>
            <a:rect l="l" t="t" r="r" b="b"/>
            <a:pathLst>
              <a:path w="2131575" h="1004833">
                <a:moveTo>
                  <a:pt x="0" y="0"/>
                </a:moveTo>
                <a:lnTo>
                  <a:pt x="2131575" y="0"/>
                </a:lnTo>
                <a:lnTo>
                  <a:pt x="2131575" y="1004833"/>
                </a:lnTo>
                <a:lnTo>
                  <a:pt x="0" y="10048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>
          <a:xfrm>
            <a:off x="16007241" y="-269126"/>
            <a:ext cx="2475692" cy="2475692"/>
          </a:xfrm>
          <a:custGeom>
            <a:avLst/>
            <a:gdLst/>
            <a:ahLst/>
            <a:cxnLst/>
            <a:rect l="l" t="t" r="r" b="b"/>
            <a:pathLst>
              <a:path w="2475692" h="2475692">
                <a:moveTo>
                  <a:pt x="0" y="0"/>
                </a:moveTo>
                <a:lnTo>
                  <a:pt x="2475692" y="0"/>
                </a:lnTo>
                <a:lnTo>
                  <a:pt x="2475692" y="2475692"/>
                </a:lnTo>
                <a:lnTo>
                  <a:pt x="0" y="24756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313" b="-9313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3"/>
          <p:cNvSpPr txBox="1"/>
          <p:nvPr/>
        </p:nvSpPr>
        <p:spPr>
          <a:xfrm>
            <a:off x="7294513" y="377531"/>
            <a:ext cx="3698974" cy="8826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sz="4999" b="1" spc="-399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TECH  STACK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125155" y="2957580"/>
            <a:ext cx="15157063" cy="11793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4056" lvl="1" indent="-367028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Frontend: HTML5, CSS3, JavaScript (or React) — lightweight and runs in any browser without installation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25231" y="4800917"/>
            <a:ext cx="14596550" cy="5638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4056" lvl="1" indent="-367028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Backend: None required — all emission calculations are done client-side using JS logic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25156" y="6648133"/>
            <a:ext cx="14596550" cy="5638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4056" lvl="1" indent="-367028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Database: None — no data stored; all results computed on the fly from user input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25156" y="8495348"/>
            <a:ext cx="14853510" cy="11793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4056" lvl="1" indent="-367028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Tools &amp; APIs: Chart.js for </a:t>
            </a:r>
            <a:r>
              <a:rPr lang="en-US" sz="3399" b="1" spc="-271" dirty="0" err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visualisation</a:t>
            </a: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| OpenStreetMap (optional) for distance | Emission constants from IPCC / govt transport data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028700" y="1406083"/>
            <a:ext cx="16230600" cy="149974"/>
            <a:chOff x="0" y="0"/>
            <a:chExt cx="4052983" cy="3745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052983" cy="37450"/>
            </a:xfrm>
            <a:custGeom>
              <a:avLst/>
              <a:gdLst/>
              <a:ahLst/>
              <a:cxnLst/>
              <a:rect l="l" t="t" r="r" b="b"/>
              <a:pathLst>
                <a:path w="4052983" h="37450">
                  <a:moveTo>
                    <a:pt x="0" y="0"/>
                  </a:moveTo>
                  <a:lnTo>
                    <a:pt x="4052983" y="0"/>
                  </a:lnTo>
                  <a:lnTo>
                    <a:pt x="4052983" y="37450"/>
                  </a:lnTo>
                  <a:lnTo>
                    <a:pt x="0" y="37450"/>
                  </a:lnTo>
                  <a:close/>
                </a:path>
              </a:pathLst>
            </a:custGeom>
            <a:gradFill rotWithShape="1">
              <a:gsLst>
                <a:gs pos="0">
                  <a:srgbClr val="FFC4E1">
                    <a:alpha val="0"/>
                  </a:srgbClr>
                </a:gs>
                <a:gs pos="25000">
                  <a:srgbClr val="C4FBFF">
                    <a:alpha val="100000"/>
                  </a:srgbClr>
                </a:gs>
                <a:gs pos="50000">
                  <a:srgbClr val="DAFCFF">
                    <a:alpha val="100000"/>
                  </a:srgbClr>
                </a:gs>
                <a:gs pos="75000">
                  <a:srgbClr val="C4FBFF">
                    <a:alpha val="60000"/>
                  </a:srgbClr>
                </a:gs>
                <a:gs pos="100000">
                  <a:srgbClr val="FFC4E1">
                    <a:alpha val="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4052983" cy="75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633296" y="575308"/>
            <a:ext cx="2131575" cy="1004833"/>
          </a:xfrm>
          <a:custGeom>
            <a:avLst/>
            <a:gdLst/>
            <a:ahLst/>
            <a:cxnLst/>
            <a:rect l="l" t="t" r="r" b="b"/>
            <a:pathLst>
              <a:path w="2131575" h="1004833">
                <a:moveTo>
                  <a:pt x="0" y="0"/>
                </a:moveTo>
                <a:lnTo>
                  <a:pt x="2131575" y="0"/>
                </a:lnTo>
                <a:lnTo>
                  <a:pt x="2131575" y="1004833"/>
                </a:lnTo>
                <a:lnTo>
                  <a:pt x="0" y="10048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2" name="Freeform 12"/>
          <p:cNvSpPr/>
          <p:nvPr/>
        </p:nvSpPr>
        <p:spPr>
          <a:xfrm>
            <a:off x="15978666" y="-269126"/>
            <a:ext cx="2475692" cy="2475692"/>
          </a:xfrm>
          <a:custGeom>
            <a:avLst/>
            <a:gdLst/>
            <a:ahLst/>
            <a:cxnLst/>
            <a:rect l="l" t="t" r="r" b="b"/>
            <a:pathLst>
              <a:path w="2475692" h="2475692">
                <a:moveTo>
                  <a:pt x="0" y="0"/>
                </a:moveTo>
                <a:lnTo>
                  <a:pt x="2475692" y="0"/>
                </a:lnTo>
                <a:lnTo>
                  <a:pt x="2475692" y="2475692"/>
                </a:lnTo>
                <a:lnTo>
                  <a:pt x="0" y="24756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313" b="-9313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3"/>
          <p:cNvSpPr txBox="1"/>
          <p:nvPr/>
        </p:nvSpPr>
        <p:spPr>
          <a:xfrm>
            <a:off x="5730032" y="376633"/>
            <a:ext cx="7004000" cy="892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 b="1" spc="-40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IMPLEMENTATION  PLAN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16274" y="3271934"/>
            <a:ext cx="15206952" cy="11793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4059" lvl="1" indent="-367030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Phase 1 (Day 1 morning): Build input form UI and emission calculation logic for all 4 transport modes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16199" y="5181945"/>
            <a:ext cx="14720330" cy="11793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4059" lvl="1" indent="-367030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Phase 2 (Day 1 afternoon): Build comparison table, monthly savings calculator, and greener mode badge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16198" y="7091955"/>
            <a:ext cx="14720329" cy="11793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4059" lvl="1" indent="-367030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Phase 3 (Day 2): Polish UI, add responsive design, test edge cases, prepare demo and presentation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116733" y="1459754"/>
            <a:ext cx="16230600" cy="149974"/>
            <a:chOff x="0" y="0"/>
            <a:chExt cx="4052983" cy="374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052983" cy="37450"/>
            </a:xfrm>
            <a:custGeom>
              <a:avLst/>
              <a:gdLst/>
              <a:ahLst/>
              <a:cxnLst/>
              <a:rect l="l" t="t" r="r" b="b"/>
              <a:pathLst>
                <a:path w="4052983" h="37450">
                  <a:moveTo>
                    <a:pt x="0" y="0"/>
                  </a:moveTo>
                  <a:lnTo>
                    <a:pt x="4052983" y="0"/>
                  </a:lnTo>
                  <a:lnTo>
                    <a:pt x="4052983" y="37450"/>
                  </a:lnTo>
                  <a:lnTo>
                    <a:pt x="0" y="37450"/>
                  </a:lnTo>
                  <a:close/>
                </a:path>
              </a:pathLst>
            </a:custGeom>
            <a:gradFill rotWithShape="1">
              <a:gsLst>
                <a:gs pos="0">
                  <a:srgbClr val="FFC4E1">
                    <a:alpha val="0"/>
                  </a:srgbClr>
                </a:gs>
                <a:gs pos="25000">
                  <a:srgbClr val="C4FBFF">
                    <a:alpha val="100000"/>
                  </a:srgbClr>
                </a:gs>
                <a:gs pos="50000">
                  <a:srgbClr val="DAFCFF">
                    <a:alpha val="100000"/>
                  </a:srgbClr>
                </a:gs>
                <a:gs pos="75000">
                  <a:srgbClr val="C4FBFF">
                    <a:alpha val="60000"/>
                  </a:srgbClr>
                </a:gs>
                <a:gs pos="100000">
                  <a:srgbClr val="FFC4E1">
                    <a:alpha val="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4052983" cy="75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633296" y="575308"/>
            <a:ext cx="2131575" cy="1004833"/>
          </a:xfrm>
          <a:custGeom>
            <a:avLst/>
            <a:gdLst/>
            <a:ahLst/>
            <a:cxnLst/>
            <a:rect l="l" t="t" r="r" b="b"/>
            <a:pathLst>
              <a:path w="2131575" h="1004833">
                <a:moveTo>
                  <a:pt x="0" y="0"/>
                </a:moveTo>
                <a:lnTo>
                  <a:pt x="2131575" y="0"/>
                </a:lnTo>
                <a:lnTo>
                  <a:pt x="2131575" y="1004833"/>
                </a:lnTo>
                <a:lnTo>
                  <a:pt x="0" y="10048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>
          <a:xfrm>
            <a:off x="15978666" y="-269126"/>
            <a:ext cx="2475692" cy="2475692"/>
          </a:xfrm>
          <a:custGeom>
            <a:avLst/>
            <a:gdLst/>
            <a:ahLst/>
            <a:cxnLst/>
            <a:rect l="l" t="t" r="r" b="b"/>
            <a:pathLst>
              <a:path w="2475692" h="2475692">
                <a:moveTo>
                  <a:pt x="0" y="0"/>
                </a:moveTo>
                <a:lnTo>
                  <a:pt x="2475692" y="0"/>
                </a:lnTo>
                <a:lnTo>
                  <a:pt x="2475692" y="2475692"/>
                </a:lnTo>
                <a:lnTo>
                  <a:pt x="0" y="24756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313" b="-9313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3"/>
          <p:cNvSpPr txBox="1"/>
          <p:nvPr/>
        </p:nvSpPr>
        <p:spPr>
          <a:xfrm>
            <a:off x="4896553" y="377591"/>
            <a:ext cx="8827740" cy="892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 b="1" spc="-40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EXPECTED OUTCOME  / IMPACT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01377" y="3081217"/>
            <a:ext cx="15734803" cy="11793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4056" lvl="1" indent="-367028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 working web/mobile app where users enter commute distance and instantly see CO2 emissions and travel cost compared across Car, Bus, Metro, and Cycling — with monthly savings highlighted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91778" y="5057775"/>
            <a:ext cx="15744402" cy="11793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4056" lvl="1" indent="-367028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Commuters gain instant awareness of their carbon footprint. The app makes it easy to choose greener transport without needing any technical knowledge.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01302" y="7038340"/>
            <a:ext cx="15734877" cy="11793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4056" lvl="1" indent="-367028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If even 10% of daily car commuters switch to public transport based on this insight, city-level CO2 emissions could drop significantly — contributing directly to sustainability goals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565415" y="1441864"/>
            <a:ext cx="16230600" cy="149974"/>
            <a:chOff x="0" y="0"/>
            <a:chExt cx="4052983" cy="374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052983" cy="37450"/>
            </a:xfrm>
            <a:custGeom>
              <a:avLst/>
              <a:gdLst/>
              <a:ahLst/>
              <a:cxnLst/>
              <a:rect l="l" t="t" r="r" b="b"/>
              <a:pathLst>
                <a:path w="4052983" h="37450">
                  <a:moveTo>
                    <a:pt x="0" y="0"/>
                  </a:moveTo>
                  <a:lnTo>
                    <a:pt x="4052983" y="0"/>
                  </a:lnTo>
                  <a:lnTo>
                    <a:pt x="4052983" y="37450"/>
                  </a:lnTo>
                  <a:lnTo>
                    <a:pt x="0" y="37450"/>
                  </a:lnTo>
                  <a:close/>
                </a:path>
              </a:pathLst>
            </a:custGeom>
            <a:gradFill rotWithShape="1">
              <a:gsLst>
                <a:gs pos="0">
                  <a:srgbClr val="FFC4E1">
                    <a:alpha val="0"/>
                  </a:srgbClr>
                </a:gs>
                <a:gs pos="25000">
                  <a:srgbClr val="C4FBFF">
                    <a:alpha val="100000"/>
                  </a:srgbClr>
                </a:gs>
                <a:gs pos="50000">
                  <a:srgbClr val="DAFCFF">
                    <a:alpha val="100000"/>
                  </a:srgbClr>
                </a:gs>
                <a:gs pos="75000">
                  <a:srgbClr val="C4FBFF">
                    <a:alpha val="60000"/>
                  </a:srgbClr>
                </a:gs>
                <a:gs pos="100000">
                  <a:srgbClr val="FFC4E1">
                    <a:alpha val="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4052983" cy="75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633296" y="575308"/>
            <a:ext cx="2131575" cy="1004833"/>
          </a:xfrm>
          <a:custGeom>
            <a:avLst/>
            <a:gdLst/>
            <a:ahLst/>
            <a:cxnLst/>
            <a:rect l="l" t="t" r="r" b="b"/>
            <a:pathLst>
              <a:path w="2131575" h="1004833">
                <a:moveTo>
                  <a:pt x="0" y="0"/>
                </a:moveTo>
                <a:lnTo>
                  <a:pt x="2131575" y="0"/>
                </a:lnTo>
                <a:lnTo>
                  <a:pt x="2131575" y="1004833"/>
                </a:lnTo>
                <a:lnTo>
                  <a:pt x="0" y="10048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>
          <a:xfrm>
            <a:off x="15978666" y="-269126"/>
            <a:ext cx="2475692" cy="2475692"/>
          </a:xfrm>
          <a:custGeom>
            <a:avLst/>
            <a:gdLst/>
            <a:ahLst/>
            <a:cxnLst/>
            <a:rect l="l" t="t" r="r" b="b"/>
            <a:pathLst>
              <a:path w="2475692" h="2475692">
                <a:moveTo>
                  <a:pt x="0" y="0"/>
                </a:moveTo>
                <a:lnTo>
                  <a:pt x="2475692" y="0"/>
                </a:lnTo>
                <a:lnTo>
                  <a:pt x="2475692" y="2475692"/>
                </a:lnTo>
                <a:lnTo>
                  <a:pt x="0" y="24756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313" b="-9313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3"/>
          <p:cNvSpPr txBox="1"/>
          <p:nvPr/>
        </p:nvSpPr>
        <p:spPr>
          <a:xfrm>
            <a:off x="4503647" y="331023"/>
            <a:ext cx="9836646" cy="892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 b="1" spc="-40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FUTURE  SCOPE  AND  CONCLUSION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01377" y="3173674"/>
            <a:ext cx="15661061" cy="11793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4056" lvl="1" indent="-367028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Add live route distance via Google Maps / OpenStreetMap API | City-specific emission factors based on local grid energy | User profile to track commute habits over time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01303" y="6909834"/>
            <a:ext cx="15661060" cy="30260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4056" lvl="1" indent="-367028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Gamification: streak rewards for choosing green modes </a:t>
            </a:r>
          </a:p>
          <a:p>
            <a:pPr marL="734056" lvl="1" indent="-367028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endParaRPr lang="en-US" sz="3399" b="1" spc="-271" dirty="0">
              <a:solidFill>
                <a:srgbClr val="FFFFFF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marL="734056" lvl="1" indent="-367028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Integration with govt transport apps |</a:t>
            </a:r>
          </a:p>
          <a:p>
            <a:pPr marL="734056" lvl="1" indent="-367028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endParaRPr lang="en-US" sz="3399" b="1" spc="-271" dirty="0">
              <a:solidFill>
                <a:srgbClr val="FFFFFF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marL="734056" lvl="1" indent="-367028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Multi-city leaderboard showing collective CO2 saved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01302" y="5041754"/>
            <a:ext cx="15661061" cy="11793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4056" lvl="1" indent="-367028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Commute Emission Comparer makes the invisible visible — turning daily travel choices into informed, climate-conscious decisions. Simple, impactful, and built for everyone.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136043" y="1423973"/>
            <a:ext cx="16230600" cy="149974"/>
            <a:chOff x="0" y="0"/>
            <a:chExt cx="4052983" cy="374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052983" cy="37450"/>
            </a:xfrm>
            <a:custGeom>
              <a:avLst/>
              <a:gdLst/>
              <a:ahLst/>
              <a:cxnLst/>
              <a:rect l="l" t="t" r="r" b="b"/>
              <a:pathLst>
                <a:path w="4052983" h="37450">
                  <a:moveTo>
                    <a:pt x="0" y="0"/>
                  </a:moveTo>
                  <a:lnTo>
                    <a:pt x="4052983" y="0"/>
                  </a:lnTo>
                  <a:lnTo>
                    <a:pt x="4052983" y="37450"/>
                  </a:lnTo>
                  <a:lnTo>
                    <a:pt x="0" y="37450"/>
                  </a:lnTo>
                  <a:close/>
                </a:path>
              </a:pathLst>
            </a:custGeom>
            <a:gradFill rotWithShape="1">
              <a:gsLst>
                <a:gs pos="0">
                  <a:srgbClr val="FFC4E1">
                    <a:alpha val="0"/>
                  </a:srgbClr>
                </a:gs>
                <a:gs pos="25000">
                  <a:srgbClr val="C4FBFF">
                    <a:alpha val="100000"/>
                  </a:srgbClr>
                </a:gs>
                <a:gs pos="50000">
                  <a:srgbClr val="DAFCFF">
                    <a:alpha val="100000"/>
                  </a:srgbClr>
                </a:gs>
                <a:gs pos="75000">
                  <a:srgbClr val="C4FBFF">
                    <a:alpha val="60000"/>
                  </a:srgbClr>
                </a:gs>
                <a:gs pos="100000">
                  <a:srgbClr val="FFC4E1">
                    <a:alpha val="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4052983" cy="75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633296" y="575308"/>
            <a:ext cx="2131575" cy="1004833"/>
          </a:xfrm>
          <a:custGeom>
            <a:avLst/>
            <a:gdLst/>
            <a:ahLst/>
            <a:cxnLst/>
            <a:rect l="l" t="t" r="r" b="b"/>
            <a:pathLst>
              <a:path w="2131575" h="1004833">
                <a:moveTo>
                  <a:pt x="0" y="0"/>
                </a:moveTo>
                <a:lnTo>
                  <a:pt x="2131575" y="0"/>
                </a:lnTo>
                <a:lnTo>
                  <a:pt x="2131575" y="1004833"/>
                </a:lnTo>
                <a:lnTo>
                  <a:pt x="0" y="10048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>
          <a:xfrm>
            <a:off x="15978666" y="-269126"/>
            <a:ext cx="2475692" cy="2475692"/>
          </a:xfrm>
          <a:custGeom>
            <a:avLst/>
            <a:gdLst/>
            <a:ahLst/>
            <a:cxnLst/>
            <a:rect l="l" t="t" r="r" b="b"/>
            <a:pathLst>
              <a:path w="2475692" h="2475692">
                <a:moveTo>
                  <a:pt x="0" y="0"/>
                </a:moveTo>
                <a:lnTo>
                  <a:pt x="2475692" y="0"/>
                </a:lnTo>
                <a:lnTo>
                  <a:pt x="2475692" y="2475692"/>
                </a:lnTo>
                <a:lnTo>
                  <a:pt x="0" y="24756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828</Words>
  <Application>Microsoft Office PowerPoint</Application>
  <PresentationFormat>Custom</PresentationFormat>
  <Paragraphs>54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Times New Roman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Deep Deshmukh</dc:creator>
  <cp:lastModifiedBy>Deep Deshmukh</cp:lastModifiedBy>
  <cp:revision>1</cp:revision>
  <dcterms:modified xsi:type="dcterms:W3CDTF">2026-04-02T16:40:28Z</dcterms:modified>
</cp:coreProperties>
</file>